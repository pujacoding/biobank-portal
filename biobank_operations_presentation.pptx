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06B6D4"/>
                </a:solidFill>
                <a:latin typeface="Arial"/>
              </a:defRPr>
            </a:pPr>
            <a:r>
              <a:t>AURA BIOMEDICAL BANK</a:t>
            </a:r>
          </a:p>
          <a:p>
            <a:pPr>
              <a:spcAft>
                <a:spcPts val="28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Widescreen LIMS Operations &amp; Security Portal Review</a:t>
            </a:r>
          </a:p>
          <a:p>
            <a:pPr>
              <a:spcAft>
                <a:spcPts val="4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Next-Generation Cryogenic Storage Mapping, Ethical Patient Consent Guardrails, and Cryptographic Security Controls.</a:t>
            </a:r>
          </a:p>
          <a:p>
            <a:pPr>
              <a:defRPr sz="1200" i="1">
                <a:solidFill>
                  <a:srgbClr val="06B6D4"/>
                </a:solidFill>
                <a:latin typeface="Arial"/>
              </a:defRPr>
            </a:pPr>
            <a:r>
              <a:t>Prepared for: Executive Leadership &amp; Biosafety Board</a:t>
            </a:r>
            <a:br/>
            <a:r>
              <a:t>Presented by: LIMS Development Team</a:t>
            </a:r>
          </a:p>
        </p:txBody>
      </p:sp>
      <p:pic>
        <p:nvPicPr>
          <p:cNvPr id="3" name="Picture 2" descr="biobank_lab_hero_17798101004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Platform Mission &amp; Objectives: </a:t>
            </a:r>
            <a:r>
              <a:rPr b="0">
                <a:solidFill>
                  <a:srgbClr val="94A3B8"/>
                </a:solidFill>
              </a:rPr>
              <a:t>Deliver an enterprise-grade LIMS that maintains absolute cold-chain integrity and compliant research access workflows.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Dynamic Spatial Cold Storage: </a:t>
            </a:r>
            <a:r>
              <a:rPr b="0">
                <a:solidFill>
                  <a:srgbClr val="94A3B8"/>
                </a:solidFill>
              </a:rPr>
              <a:t>Eliminate manual inventory spreadsheets with real-time graphical microplate rack mapping and unit temperature constraints.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Ethically Compliant Governance: </a:t>
            </a:r>
            <a:r>
              <a:rPr b="0">
                <a:solidFill>
                  <a:srgbClr val="94A3B8"/>
                </a:solidFill>
              </a:rPr>
              <a:t>Enforce consent restrictions (Academic, Genomic, Commercial) across all biological specimen distribution requests.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Recent Upgrades Summary: </a:t>
            </a:r>
            <a:r>
              <a:rPr b="0">
                <a:solidFill>
                  <a:srgbClr val="94A3B8"/>
                </a:solidFill>
              </a:rPr>
              <a:t>Successfully deployed collapsible panels for full-screen data visibility, secure checkout form resets, and type-specific freezer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Active Storage Unit &amp; Spatial Grid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500">
                <a:solidFill>
                  <a:srgbClr val="06B6D4"/>
                </a:solidFill>
              </a:defRPr>
            </a:pPr>
            <a:r>
              <a:t>•  ULT Freezer 03 (-80.4°C)</a:t>
            </a:r>
            <a:br/>
            <a:r>
              <a:rPr b="0" sz="1300">
                <a:solidFill>
                  <a:srgbClr val="94A3B8"/>
                </a:solidFill>
              </a:rPr>
              <a:t>Reserved exclusively for Blood and Serum specimens. Protects fluid-based cellular structures and protein stability from crystallization damage.</a:t>
            </a:r>
          </a:p>
          <a:p>
            <a:pPr>
              <a:spcBef>
                <a:spcPts val="1000"/>
              </a:spcBef>
              <a:defRPr b="1" sz="1500">
                <a:solidFill>
                  <a:srgbClr val="06B6D4"/>
                </a:solidFill>
              </a:defRPr>
            </a:pPr>
            <a:r>
              <a:t>•  Liquid Nitrogen (LN2) Tank 01 (-196.2°C)</a:t>
            </a:r>
            <a:br/>
            <a:r>
              <a:rPr b="0" sz="1300">
                <a:solidFill>
                  <a:srgbClr val="94A3B8"/>
                </a:solidFill>
              </a:rPr>
              <a:t>Reserved for DNA and Tissue specimens. Vapor-phase cryogenic storage halts all molecular and chemical degradation to preserve genomic structures.</a:t>
            </a:r>
          </a:p>
          <a:p>
            <a:pPr>
              <a:spcBef>
                <a:spcPts val="1000"/>
              </a:spcBef>
              <a:defRPr b="1" sz="1500">
                <a:solidFill>
                  <a:srgbClr val="06B6D4"/>
                </a:solidFill>
              </a:defRPr>
            </a:pPr>
            <a:r>
              <a:t>•  Dynamic Inventory Restricting</a:t>
            </a:r>
            <a:br/>
            <a:r>
              <a:rPr b="0" sz="1300">
                <a:solidFill>
                  <a:srgbClr val="94A3B8"/>
                </a:solidFill>
              </a:rPr>
              <a:t>LIMS automatically filters empty well deposits. For example, DNA/Tissue options are locked out during ULT-03 deposits, preventing dangerous storage errors.</a:t>
            </a:r>
          </a:p>
          <a:p>
            <a:pPr>
              <a:spcBef>
                <a:spcPts val="1000"/>
              </a:spcBef>
              <a:defRPr b="1" sz="1500">
                <a:solidFill>
                  <a:srgbClr val="06B6D4"/>
                </a:solidFill>
              </a:defRPr>
            </a:pPr>
            <a:r>
              <a:t>•  Prefix Coordinates in Logs</a:t>
            </a:r>
            <a:br/>
            <a:r>
              <a:rPr b="0" sz="1300">
                <a:solidFill>
                  <a:srgbClr val="94A3B8"/>
                </a:solidFill>
              </a:rPr>
              <a:t>Depositing or relocating samples automatically prepends unit names (e.g. 'ULT Freezer 03 &gt; ...') to trace inventory accurately.</a:t>
            </a:r>
          </a:p>
        </p:txBody>
      </p:sp>
      <p:pic>
        <p:nvPicPr>
          <p:cNvPr id="4" name="Picture 3" descr="storage_grid_diagram_1779810153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Consent Governance &amp; Cryptographic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Granular Consent Settings</a:t>
            </a:r>
            <a:br/>
            <a:r>
              <a:rPr b="0" sz="1350">
                <a:solidFill>
                  <a:srgbClr val="94A3B8"/>
                </a:solidFill>
              </a:rPr>
              <a:t>Every enrolled donor registry profile has toggles for Academic, Genomic, and Commercial consent.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Automatic Checkout Blockers</a:t>
            </a:r>
            <a:br/>
            <a:r>
              <a:rPr b="0" sz="1350">
                <a:solidFill>
                  <a:srgbClr val="94A3B8"/>
                </a:solidFill>
              </a:rPr>
              <a:t>LIMS cross-references donor consent toggles during access checkouts. Specimens are programmatically blocked if research purpose conflicts with consent.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Immutable Blockchain Ledger</a:t>
            </a:r>
            <a:br/>
            <a:r>
              <a:rPr b="0" sz="1350">
                <a:solidFill>
                  <a:srgbClr val="94A3B8"/>
                </a:solidFill>
              </a:rPr>
              <a:t>All consent edits are instantly sealed as blocks on an internal ledger timeline, featuring SHA-256 links for absolute data integrity.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Cryptographic Signatures</a:t>
            </a:r>
            <a:br/>
            <a:r>
              <a:rPr b="0" sz="1350">
                <a:solidFill>
                  <a:srgbClr val="94A3B8"/>
                </a:solidFill>
              </a:rPr>
              <a:t>Audit trails preserve original hash keys and verification signatures, allowing independent bioethics compliance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Role-Based Access Controls &amp; Session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b="1" sz="1600">
                <a:solidFill>
                  <a:srgbClr val="06B6D4"/>
                </a:solidFill>
              </a:defRPr>
            </a:pPr>
            <a:r>
              <a:t>•  Role Boundaries (RBAC)</a:t>
            </a:r>
            <a:br/>
            <a:r>
              <a:rPr b="0" sz="1350">
                <a:solidFill>
                  <a:srgbClr val="94A3B8"/>
                </a:solidFill>
              </a:rPr>
              <a:t>LIMS differentiates between Operator roles: Lead Researchers (Admins), Lab Technicians, and Guest Researchers.</a:t>
            </a:r>
          </a:p>
          <a:p>
            <a:pPr>
              <a:spcBef>
                <a:spcPts val="1400"/>
              </a:spcBef>
              <a:defRPr b="1" sz="1600">
                <a:solidFill>
                  <a:srgbClr val="06B6D4"/>
                </a:solidFill>
              </a:defRPr>
            </a:pPr>
            <a:r>
              <a:t>•  Locked Administrative Panels</a:t>
            </a:r>
            <a:br/>
            <a:r>
              <a:rPr b="0" sz="1350">
                <a:solidFill>
                  <a:srgbClr val="94A3B8"/>
                </a:solidFill>
              </a:rPr>
              <a:t>Administration menus, Access Control lists, and Audit Trails are fully hidden and blocked from non-admin roles.</a:t>
            </a:r>
          </a:p>
          <a:p>
            <a:pPr>
              <a:spcBef>
                <a:spcPts val="1400"/>
              </a:spcBef>
              <a:defRPr b="1" sz="1600">
                <a:solidFill>
                  <a:srgbClr val="06B6D4"/>
                </a:solidFill>
              </a:defRPr>
            </a:pPr>
            <a:r>
              <a:t>•  Automatic Route Protection</a:t>
            </a:r>
            <a:br/>
            <a:r>
              <a:rPr b="0" sz="1350">
                <a:solidFill>
                  <a:srgbClr val="94A3B8"/>
                </a:solidFill>
              </a:rPr>
              <a:t>Session interceptors redirect unauthenticated or unauthorized users instantly to the Core Operations Dashboard.</a:t>
            </a:r>
          </a:p>
          <a:p>
            <a:pPr>
              <a:spcBef>
                <a:spcPts val="1400"/>
              </a:spcBef>
              <a:defRPr b="1" sz="1600">
                <a:solidFill>
                  <a:srgbClr val="06B6D4"/>
                </a:solidFill>
              </a:defRPr>
            </a:pPr>
            <a:r>
              <a:t>•  Passcode Verification</a:t>
            </a:r>
            <a:br/>
            <a:r>
              <a:rPr b="0" sz="1350">
                <a:solidFill>
                  <a:srgbClr val="94A3B8"/>
                </a:solidFill>
              </a:rPr>
              <a:t>All mutations require secure authentication, logging the operator's identity and timestamp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Specimen Access Checkout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Interactive Selection</a:t>
            </a:r>
            <a:br/>
            <a:r>
              <a:rPr b="0" sz="1350">
                <a:solidFill>
                  <a:srgbClr val="94A3B8"/>
                </a:solidFill>
              </a:rPr>
              <a:t>Users add specimens directly to their Request Cart while filtering by diagnosis, quality metrics, or freezer position.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IRB Compliance Validation</a:t>
            </a:r>
            <a:br/>
            <a:r>
              <a:rPr b="0" sz="1350">
                <a:solidFill>
                  <a:srgbClr val="94A3B8"/>
                </a:solidFill>
              </a:rPr>
              <a:t>Checkout requires entering Researcher Name, Institution, and a valid IRB (Institutional Review Board) Code.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Checkout Form Safety Resets</a:t>
            </a:r>
            <a:br/>
            <a:r>
              <a:rPr b="0" sz="1350">
                <a:solidFill>
                  <a:srgbClr val="94A3B8"/>
                </a:solidFill>
              </a:rPr>
              <a:t>The LIMS checkout form automatically resets on modal open, modal cancel, and successful request. This prevents previous operator information or project details from leaking.</a:t>
            </a:r>
          </a:p>
          <a:p>
            <a:pPr>
              <a:spcBef>
                <a:spcPts val="1400"/>
              </a:spcBef>
              <a:defRPr b="1" sz="1600">
                <a:solidFill>
                  <a:srgbClr val="FFFFFF"/>
                </a:solidFill>
              </a:defRPr>
            </a:pPr>
            <a:r>
              <a:t>•  Shipment Order &amp; Cryo-Labeling</a:t>
            </a:r>
            <a:br/>
            <a:r>
              <a:rPr b="0" sz="1350">
                <a:solidFill>
                  <a:srgbClr val="94A3B8"/>
                </a:solidFill>
              </a:rPr>
              <a:t>Approved checkouts lock specimens and generate cryogenic barcodes ready for packaging and dispatch.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Operational Auditing &amp; Premium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b="1" sz="1600">
                <a:solidFill>
                  <a:srgbClr val="06B6D4"/>
                </a:solidFill>
              </a:defRPr>
            </a:pPr>
            <a:r>
              <a:t>•  Comprehensive Audit Logs</a:t>
            </a:r>
            <a:br/>
            <a:r>
              <a:rPr b="0" sz="1350">
                <a:solidFill>
                  <a:srgbClr val="94A3B8"/>
                </a:solidFill>
              </a:rPr>
              <a:t>Every action—operator login, specimen deposit, relocation, consent update, and cart checkout—is logged in real-time.</a:t>
            </a:r>
          </a:p>
          <a:p>
            <a:pPr>
              <a:spcBef>
                <a:spcPts val="1400"/>
              </a:spcBef>
              <a:defRPr b="1" sz="1600">
                <a:solidFill>
                  <a:srgbClr val="06B6D4"/>
                </a:solidFill>
              </a:defRPr>
            </a:pPr>
            <a:r>
              <a:t>•  Interactive Data Filtering</a:t>
            </a:r>
            <a:br/>
            <a:r>
              <a:rPr b="0" sz="1350">
                <a:solidFill>
                  <a:srgbClr val="94A3B8"/>
                </a:solidFill>
              </a:rPr>
              <a:t>LIMS provides live filters inside tabular reports for search-on-type lookups and checkbox selections.</a:t>
            </a:r>
          </a:p>
          <a:p>
            <a:pPr>
              <a:spcBef>
                <a:spcPts val="1400"/>
              </a:spcBef>
              <a:defRPr b="1" sz="1600">
                <a:solidFill>
                  <a:srgbClr val="06B6D4"/>
                </a:solidFill>
              </a:defRPr>
            </a:pPr>
            <a:r>
              <a:t>•  Custom CSV Exports</a:t>
            </a:r>
            <a:br/>
            <a:r>
              <a:rPr b="0" sz="1350">
                <a:solidFill>
                  <a:srgbClr val="94A3B8"/>
                </a:solidFill>
              </a:rPr>
              <a:t>Compliance officers can select specific rows or export targeted datasets for off-platform analytical reviews.</a:t>
            </a:r>
          </a:p>
          <a:p>
            <a:pPr>
              <a:spcBef>
                <a:spcPts val="1400"/>
              </a:spcBef>
              <a:defRPr b="1" sz="1600">
                <a:solidFill>
                  <a:srgbClr val="06B6D4"/>
                </a:solidFill>
              </a:defRPr>
            </a:pPr>
            <a:r>
              <a:t>•  Spreadsheet-Style Printing</a:t>
            </a:r>
            <a:br/>
            <a:r>
              <a:rPr b="0" sz="1350">
                <a:solidFill>
                  <a:srgbClr val="94A3B8"/>
                </a:solidFill>
              </a:rPr>
              <a:t>Print styles strip out all colors, sidebars, and dashboard components, rendering high-contrast grid lines for physical lab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